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2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80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Ekskul IT • Pengenalan Coding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bright_clean_cartoon_illustration_of_a_mode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943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Coding?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58368" y="5440680"/>
            <a:ext cx="2148840" cy="420624"/>
          </a:xfrm>
          <a:prstGeom prst="roundRect">
            <a:avLst>
              <a:gd name="adj" fmla="val 2608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" y="5541264"/>
            <a:ext cx="1874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Ekskul</a:t>
            </a:r>
            <a:r>
              <a:rPr lang="en-US" sz="1400" b="1" dirty="0">
                <a:solidFill>
                  <a:schemeClr val="bg1"/>
                </a:solidFill>
              </a:rPr>
              <a:t> IT • </a:t>
            </a:r>
            <a:r>
              <a:rPr lang="en-US" sz="14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</a:t>
            </a: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17F7241-3833-7E06-E310-76C07E7F3554}"/>
              </a:ext>
            </a:extLst>
          </p:cNvPr>
          <p:cNvSpPr/>
          <p:nvPr/>
        </p:nvSpPr>
        <p:spPr>
          <a:xfrm>
            <a:off x="597254" y="1287794"/>
            <a:ext cx="4419908" cy="743726"/>
          </a:xfrm>
          <a:prstGeom prst="roundRect">
            <a:avLst>
              <a:gd name="adj" fmla="val 2608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r>
              <a:rPr lang="en-US" b="1" dirty="0" err="1">
                <a:solidFill>
                  <a:srgbClr val="111827"/>
                </a:solidFill>
              </a:rPr>
              <a:t>Pengenalan</a:t>
            </a:r>
            <a:r>
              <a:rPr lang="en-US" b="1" dirty="0">
                <a:solidFill>
                  <a:srgbClr val="111827"/>
                </a:solidFill>
              </a:rPr>
              <a:t> coding, </a:t>
            </a:r>
            <a:r>
              <a:rPr lang="en-US" b="1" dirty="0" err="1">
                <a:solidFill>
                  <a:srgbClr val="111827"/>
                </a:solidFill>
              </a:rPr>
              <a:t>algoritma</a:t>
            </a:r>
            <a:r>
              <a:rPr lang="en-US" b="1" dirty="0">
                <a:solidFill>
                  <a:srgbClr val="111827"/>
                </a:solidFill>
              </a:rPr>
              <a:t>, dan HTML </a:t>
            </a:r>
            <a:r>
              <a:rPr lang="en-US" b="1" dirty="0" err="1">
                <a:solidFill>
                  <a:srgbClr val="111827"/>
                </a:solidFill>
              </a:rPr>
              <a:t>dasar</a:t>
            </a:r>
            <a:endParaRPr lang="en-US" b="1" dirty="0"/>
          </a:p>
          <a:p>
            <a:endParaRPr lang="en-ID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Pertanyaan Pembuka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Mulai dari rasa penasaran murid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001000" y="109728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563EB"/>
                </a:solidFill>
              </a:rPr>
              <a:t>?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6217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874520"/>
            <a:ext cx="548640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Menurut kalian,</a:t>
            </a:r>
            <a:endParaRPr lang="en-US" sz="3500" dirty="0"/>
          </a:p>
          <a:p>
            <a:pPr marL="0" indent="0" algn="ctr">
              <a:buNone/>
            </a:pPr>
            <a:r>
              <a:rPr lang="en-US" sz="3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itu apa?</a:t>
            </a:r>
            <a:endParaRPr lang="en-US" sz="3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66344"/>
            <a:ext cx="1316736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Pengertian Coding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Coding bukan sekadar mengetik, tetapi memberi instruksi.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67665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73352"/>
            <a:ext cx="6199632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adalah kegiatan menulis instruksi agar komputer atau perangkat elektronik melakukan sesuatu yang kita inginkan.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863840" y="1481328"/>
            <a:ext cx="1024128" cy="502920"/>
          </a:xfrm>
          <a:prstGeom prst="roundRect">
            <a:avLst>
              <a:gd name="adj" fmla="val 2545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73568" y="1591056"/>
            <a:ext cx="804672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70848" y="1481328"/>
            <a:ext cx="1024128" cy="502920"/>
          </a:xfrm>
          <a:prstGeom prst="roundRect">
            <a:avLst>
              <a:gd name="adj" fmla="val 2545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0576" y="1591056"/>
            <a:ext cx="804672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277856" y="1481328"/>
            <a:ext cx="1024128" cy="502920"/>
          </a:xfrm>
          <a:prstGeom prst="roundRect">
            <a:avLst>
              <a:gd name="adj" fmla="val 2545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87584" y="1591056"/>
            <a:ext cx="804672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HP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2304288"/>
            <a:ext cx="1024128" cy="502920"/>
          </a:xfrm>
          <a:prstGeom prst="roundRect">
            <a:avLst>
              <a:gd name="adj" fmla="val 2545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3568" y="2414016"/>
            <a:ext cx="804672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70848" y="2304288"/>
            <a:ext cx="1024128" cy="502920"/>
          </a:xfrm>
          <a:prstGeom prst="roundRect">
            <a:avLst>
              <a:gd name="adj" fmla="val 2545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2414016"/>
            <a:ext cx="804672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follower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77856" y="2304288"/>
            <a:ext cx="1024128" cy="502920"/>
          </a:xfrm>
          <a:prstGeom prst="roundRect">
            <a:avLst>
              <a:gd name="adj" fmla="val 2545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87584" y="2414016"/>
            <a:ext cx="804672" cy="2834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absensi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181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hasil dari coding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" y="4069080"/>
            <a:ext cx="10241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Intinya: kita menulis perintah, komputer menjalankan.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Analogi: Robot Membuat Minuman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Komputer tidak bisa menebak; instruksi harus jelas.</a:t>
            </a:r>
            <a:endParaRPr lang="en-US" sz="1250" dirty="0"/>
          </a:p>
        </p:txBody>
      </p:sp>
      <p:pic>
        <p:nvPicPr>
          <p:cNvPr id="4" name="Image 0" descr="/mnt/data/wide_bright_clean_vector_flat_cartoon_illustrati_batch_2.png"/>
          <p:cNvPicPr>
            <a:picLocks noChangeAspect="1"/>
          </p:cNvPicPr>
          <p:nvPr/>
        </p:nvPicPr>
        <p:blipFill>
          <a:blip r:embed="rId3"/>
          <a:srcRect l="17624" r="17624"/>
          <a:stretch/>
        </p:blipFill>
        <p:spPr>
          <a:xfrm>
            <a:off x="6629400" y="1143000"/>
            <a:ext cx="489204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325880"/>
            <a:ext cx="534924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5240">
            <a:solidFill>
              <a:srgbClr val="BBF7D0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627632"/>
            <a:ext cx="4773168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Bayangkan kalian meminta robot membuatkan minuman.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1024128" y="2423160"/>
            <a:ext cx="384048" cy="384048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33856" y="2532888"/>
            <a:ext cx="1645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72768" y="2432304"/>
            <a:ext cx="4023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Ambil gelas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24128" y="2990088"/>
            <a:ext cx="384048" cy="384048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3099816"/>
            <a:ext cx="1645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572768" y="2999232"/>
            <a:ext cx="4023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Ambil air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24128" y="3557016"/>
            <a:ext cx="384048" cy="384048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3666744"/>
            <a:ext cx="1645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72768" y="3566160"/>
            <a:ext cx="4023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Tuangkan air ke gelas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24128" y="4123944"/>
            <a:ext cx="384048" cy="384048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4233672"/>
            <a:ext cx="1645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72768" y="4133088"/>
            <a:ext cx="4023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Letakkan gelas di meja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78408" y="4754880"/>
            <a:ext cx="48463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Kalau instruksinya hanya “buatkan minuman”, robot bisa bingung.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 Coding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⚡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2148840" y="1463040"/>
            <a:ext cx="78638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Komputer sangat cepat,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148840" y="2084832"/>
            <a:ext cx="81381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tetapi komputer tidak dapat menebak.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02870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FDE68A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3639312"/>
            <a:ext cx="9646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= Memberikan instruksi kepada komputer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Bahasa Pemrograman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Seperti manusia punya banyak bahasa, komputer juga punya bahasa.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484632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C7D2FE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64208"/>
            <a:ext cx="42976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Manusia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411480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Inggris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Jawa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629400" y="1371600"/>
            <a:ext cx="484632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C7D2FE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1664208"/>
            <a:ext cx="42976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Komputer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949440" y="2286000"/>
            <a:ext cx="42976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• Python • C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• Java • C# • PHP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87568" y="2423160"/>
            <a:ext cx="731520" cy="0"/>
          </a:xfrm>
          <a:prstGeom prst="line">
            <a:avLst/>
          </a:prstGeom>
          <a:noFill/>
          <a:ln w="2794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97280" y="4389120"/>
            <a:ext cx="99669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bahasa punya aturan masing-masing, tetapi konsep dasarnya sama: memberi instruksi.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Hubungan Coding dengan Arduino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Nanti kode dipakai untuk menggerakkan perangkat nyata.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880360" y="2743200"/>
            <a:ext cx="1307592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897880" y="2743200"/>
            <a:ext cx="128016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51560" y="2148840"/>
            <a:ext cx="1691640" cy="1143000"/>
          </a:xfrm>
          <a:prstGeom prst="roundRect">
            <a:avLst>
              <a:gd name="adj" fmla="val 112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2258568"/>
            <a:ext cx="1472184" cy="9235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251960" y="2057400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1688" y="2167128"/>
            <a:ext cx="1380744" cy="11064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Arduino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2148840"/>
            <a:ext cx="1874520" cy="1143000"/>
          </a:xfrm>
          <a:prstGeom prst="roundRect">
            <a:avLst>
              <a:gd name="adj" fmla="val 112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9208" y="2258568"/>
            <a:ext cx="1655064" cy="9235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/ LED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8720" y="4315968"/>
            <a:ext cx="969264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A5F3FC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08760" y="4581144"/>
            <a:ext cx="9052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Sebelum masuk Arduino, kita belajar cara berpikir dan menyusun instruksi terlebih dahulu.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829800" y="1874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🤖</a:t>
            </a:r>
            <a:endParaRPr lang="en-US" sz="5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olorful_cartoon_illustration_scene_of_a_clas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048" y="384048"/>
            <a:ext cx="699516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640080" y="5943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Algoritma?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Urutan langkah-langkah yang jelas untuk menyelesaikan masalah atau mencapai tujuan.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13232" y="4983480"/>
            <a:ext cx="1074420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240">
            <a:solidFill>
              <a:srgbClr val="DDD6FE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43000" y="5157216"/>
            <a:ext cx="9875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→ Langkah-langkah → Hasil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Contoh Algoritma Sederhana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Tujuan: menyalakan lampu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249424" y="2743200"/>
            <a:ext cx="1517904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961888" y="2743200"/>
            <a:ext cx="1517904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22960" y="2148840"/>
            <a:ext cx="1371600" cy="1188720"/>
          </a:xfrm>
          <a:prstGeom prst="roundRect">
            <a:avLst>
              <a:gd name="adj" fmla="val 107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58568"/>
            <a:ext cx="1152144" cy="969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Dekati sakelar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86200" y="2148840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5928" y="2258568"/>
            <a:ext cx="1746504" cy="969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Tekan sakelar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0" y="2148840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99248" y="2258568"/>
            <a:ext cx="1746504" cy="969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Lampu menyala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0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💡</a:t>
            </a:r>
            <a:endParaRPr lang="en-US" sz="55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Algoritma membantu kita menyusun langkah dari awal sampai hasil akhir.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Urutan Itu Penting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Analogi: resep membuat mi instan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12080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5240">
            <a:solidFill>
              <a:srgbClr val="FDE68A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64208"/>
            <a:ext cx="4572000" cy="3611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Siapkan panci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air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Nyalakan kompor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Tunggu air mendidih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mi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Matikan kompor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bumbu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Sajikan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92240" y="1847088"/>
            <a:ext cx="4754880" cy="2148840"/>
          </a:xfrm>
          <a:prstGeom prst="roundRect">
            <a:avLst>
              <a:gd name="adj" fmla="val 6809"/>
            </a:avLst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84848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84848" y="2578608"/>
            <a:ext cx="41605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terjadi jika mi dimasukkan, tetapi kompor tidak dinyalakan?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12280" y="4572000"/>
            <a:ext cx="42976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Jawaban: hasilnya tidak sesuai karena ada langkah yang salah atau terlewat.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Ciri-Ciri Algoritma yang Baik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Gunakan ini saat murid membuat langkah-langkah sendiri.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435608"/>
            <a:ext cx="4754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Memiliki tujuan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18488" y="1801368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membuat teh manis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Langkahnya jelas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18488" y="2852928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“Masukkan dua sendok gula”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538728"/>
            <a:ext cx="4754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Memiliki urutan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18488" y="3904488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awal sampai akhir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590288"/>
            <a:ext cx="4754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Memiliki akhir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18488" y="4956048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Hasilnya selesai dan terlihat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623560"/>
            <a:ext cx="103327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Algoritma yang jelas membuat komputer tidak bingung.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Permainan: Manusia Robot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371600"/>
            <a:ext cx="4937760" cy="425196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64208"/>
            <a:ext cx="434340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Berdiri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Maju tiga langkah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Belok kanan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Maju dua langkah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Ambil benda di atas meja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Kembali ke tempat semula</a:t>
            </a:r>
            <a:endParaRPr lang="en-US" sz="1700" dirty="0"/>
          </a:p>
        </p:txBody>
      </p:sp>
      <p:pic>
        <p:nvPicPr>
          <p:cNvPr id="6" name="Image 0" descr="/mnt/data/a_bright_clean_colorful_cartoon_3d_illustration.png"/>
          <p:cNvPicPr>
            <a:picLocks noChangeAspect="1"/>
          </p:cNvPicPr>
          <p:nvPr/>
        </p:nvPicPr>
        <p:blipFill>
          <a:blip r:embed="rId3"/>
          <a:srcRect l="13175" r="13175"/>
          <a:stretch/>
        </p:blipFill>
        <p:spPr>
          <a:xfrm>
            <a:off x="6583680" y="1325880"/>
            <a:ext cx="4846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84848" y="5321808"/>
            <a:ext cx="4434840" cy="420624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59168" y="5431536"/>
            <a:ext cx="393192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Bandingkan dengan perintah “Pergi ke sana.”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Permainan: Menggambar dari Instruksi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Instruksi yang kurang detail dapat menghasilkan gambar berbeda.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498348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19072"/>
            <a:ext cx="438912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sebuah kotak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segitiga di atas kotak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satu persegi panjang kecil di bawah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dua kotak kecil di tengah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7552" y="5047488"/>
            <a:ext cx="44348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Hasilnya akan menjadi gambar rumah.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26680" y="16002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0" dirty="0">
                <a:solidFill>
                  <a:srgbClr val="000000"/>
                </a:solidFill>
              </a:rPr>
              <a:t>🏠</a:t>
            </a:r>
            <a:endParaRPr lang="en-US" sz="8500" dirty="0"/>
          </a:p>
        </p:txBody>
      </p:sp>
      <p:sp>
        <p:nvSpPr>
          <p:cNvPr id="8" name="Shape 6"/>
          <p:cNvSpPr/>
          <p:nvPr/>
        </p:nvSpPr>
        <p:spPr>
          <a:xfrm>
            <a:off x="6400800" y="3977640"/>
            <a:ext cx="484632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Algoritma dalam Coding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Sebelum menulis kode, programmer memikirkan langkahnya dulu.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3429000" cy="420624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Login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9264" y="2286000"/>
            <a:ext cx="2743200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nama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sandi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data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Benar: masuk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Salah: tampilkan error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62272" y="1417320"/>
            <a:ext cx="3429000" cy="420624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Lampu Otomatis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809744" y="2286000"/>
            <a:ext cx="2743200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membaca ruangan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gelap: lampu menyala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terang: lampu mati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Ulangi proses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302752" y="1417320"/>
            <a:ext cx="3429000" cy="420624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5240">
            <a:solidFill>
              <a:srgbClr val="BBF7D0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31352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Follower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50224" y="2286000"/>
            <a:ext cx="2743200" cy="2606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membaca garis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Arduino memeriksa posisi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Kiri: belok kiri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Kanan: belok kanan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Tengah: maju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lat_vector_cartoon_illustration_of_a_web_deve_batch_4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521" y="20259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Mengenal Website &amp; HTML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993766" y="29403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highlight>
                  <a:srgbClr val="FFFF00"/>
                </a:highlight>
              </a:rPr>
              <a:t>Setelah paham instruksi dan algoritma, kita coba membuat halaman web sederhana.</a:t>
            </a:r>
            <a:endParaRPr lang="en-US" sz="1700" b="1" dirty="0">
              <a:highlight>
                <a:srgbClr val="FFFF00"/>
              </a:highlight>
            </a:endParaRPr>
          </a:p>
        </p:txBody>
      </p:sp>
      <p:sp>
        <p:nvSpPr>
          <p:cNvPr id="5" name="Shape 2"/>
          <p:cNvSpPr/>
          <p:nvPr/>
        </p:nvSpPr>
        <p:spPr>
          <a:xfrm>
            <a:off x="676656" y="5422392"/>
            <a:ext cx="1600200" cy="420624"/>
          </a:xfrm>
          <a:prstGeom prst="roundRect">
            <a:avLst>
              <a:gd name="adj" fmla="val 2608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" y="5522976"/>
            <a:ext cx="1325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9–10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Komponen Dasar Website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Website dapat dibayangkan seperti sebuah rumah.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852928" y="3246120"/>
            <a:ext cx="1133856" cy="0"/>
          </a:xfrm>
          <a:prstGeom prst="line">
            <a:avLst/>
          </a:prstGeom>
          <a:noFill/>
          <a:ln w="279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172200" y="3246120"/>
            <a:ext cx="1124712" cy="0"/>
          </a:xfrm>
          <a:prstGeom prst="line">
            <a:avLst/>
          </a:prstGeom>
          <a:noFill/>
          <a:ln w="279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14400" y="2423160"/>
            <a:ext cx="1874520" cy="1508760"/>
          </a:xfrm>
          <a:prstGeom prst="roundRect">
            <a:avLst>
              <a:gd name="adj" fmla="val 848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532888"/>
            <a:ext cx="1655064" cy="1289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rumah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60520" y="2423160"/>
            <a:ext cx="1874520" cy="1508760"/>
          </a:xfrm>
          <a:prstGeom prst="roundRect">
            <a:avLst>
              <a:gd name="adj" fmla="val 848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2532888"/>
            <a:ext cx="1655064" cy="1289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 &amp; dekorasi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70648" y="2423160"/>
            <a:ext cx="2057400" cy="1508760"/>
          </a:xfrm>
          <a:prstGeom prst="roundRect">
            <a:avLst>
              <a:gd name="adj" fmla="val 84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0376" y="2532888"/>
            <a:ext cx="1837944" cy="1289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Listrik &amp; alat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0" y="235915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🏠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1097280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Hari ini fokus pada HTML terlebih dahulu.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HTML?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HTML digunakan untuk membuat struktur dan isi halaman website.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6634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37360"/>
            <a:ext cx="41605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160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HyperText Markup Language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8992" y="2971800"/>
            <a:ext cx="40233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Menggunakan tag untuk memberi tanda pada isi halaman.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1901952"/>
            <a:ext cx="4937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&lt;h1&gt;Selamat Datang&lt;/h1&gt;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72200" y="3063240"/>
            <a:ext cx="48920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&lt;h1&gt; = tag pembuka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Selamat Datang = isi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&lt;/h1&gt; = tag penutup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Struktur Dasar HTML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Kode paling awal untuk halaman web sederhana.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669280" cy="4663440"/>
          </a:xfrm>
          <a:prstGeom prst="roundRect">
            <a:avLst>
              <a:gd name="adj" fmla="val 1569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99032"/>
            <a:ext cx="5349240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&lt;title&gt;Website Pertama Saya&lt;/title&gt;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&lt;h1&gt;Halo Dunia!&lt;/h1&gt;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&lt;p&gt;Saya sedang belajar coding.&lt;/p&gt;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48056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78040" y="1737360"/>
            <a:ext cx="3931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Penjelasan singkat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0" y="2331720"/>
            <a:ext cx="356616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&lt;head&gt; berisi informasi halaman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&lt;title&gt; nama tab browser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&lt;body&gt; isi yang tampil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&lt;h1&gt; judul utama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&lt;p&gt; paragraf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Praktik: Website Pertama Saya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Murid membuat file index.html dan membukanya di browser.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89888" y="141732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9616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810512" cy="214884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5240">
            <a:solidFill>
              <a:srgbClr val="A5F3FC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153619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folder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182112"/>
            <a:ext cx="153619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eskul-it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30168" y="141732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26080" y="2148840"/>
            <a:ext cx="1810512" cy="214884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5240">
            <a:solidFill>
              <a:srgbClr val="A5F3FC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2468880"/>
            <a:ext cx="153619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di VS Code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63240" y="3182112"/>
            <a:ext cx="153619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Folder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70448" y="141732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66360" y="2148840"/>
            <a:ext cx="1810512" cy="214884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5240">
            <a:solidFill>
              <a:srgbClr val="A5F3FC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2468880"/>
            <a:ext cx="153619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file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03520" y="3182112"/>
            <a:ext cx="153619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10728" y="141732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0456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06640" y="2148840"/>
            <a:ext cx="1810512" cy="214884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5240">
            <a:solidFill>
              <a:srgbClr val="A5F3FC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2468880"/>
            <a:ext cx="153619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Tulis kode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43800" y="3182112"/>
            <a:ext cx="153619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dasar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351008" y="141732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60736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46920" y="2148840"/>
            <a:ext cx="1810512" cy="214884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5240">
            <a:solidFill>
              <a:srgbClr val="A5F3FC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784080" y="2468880"/>
            <a:ext cx="153619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&amp; buka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784080" y="3182112"/>
            <a:ext cx="153619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S → browser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5257800"/>
            <a:ext cx="101955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setiap murid punya halaman profil diri sederhana.</a:t>
            </a:r>
            <a:endParaRPr lang="en-US" sz="2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Challenge &amp; Penutup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Akhiri dengan tantangan kecil agar murid merasa berhasil.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93776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91640"/>
            <a:ext cx="43891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420624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Ubah judul menjadi nama sendiri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Tambahkan minimal tiga hobi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Tambahkan cita-cita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Tambahkan tombol baru</a:t>
            </a:r>
            <a:endParaRPr lang="en-US" sz="1650" dirty="0"/>
          </a:p>
          <a:p>
            <a:r>
              <a:rPr lang="en-US" sz="16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Coba hapus satu simbol lalu amati hasilnya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0292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FED7AA"/>
            </a:solidFill>
            <a:prstDash val="solid"/>
          </a:ln>
          <a:effectLst>
            <a:outerShdw blurRad="1524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700784"/>
            <a:ext cx="437083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Pesan penutup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766560" y="2331720"/>
            <a:ext cx="429768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Hari ini kita belajar bahwa coding adalah memberi instruksi, algoritma adalah urutan langkah, dan HTML adalah cara memberi struktur pada halaman web.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4434840"/>
            <a:ext cx="42976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berikutnya: CSS atau JavaScript dasar.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877</Words>
  <Application>Microsoft Office PowerPoint</Application>
  <PresentationFormat>Widescreen</PresentationFormat>
  <Paragraphs>240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Ekskul IT - Apa Itu Coding</dc:title>
  <dc:subject>Ekskul IT - Pengenalan Coding, Algoritma, dan HTML Dasar</dc:subject>
  <dc:creator>OpenAI</dc:creator>
  <cp:lastModifiedBy>User01</cp:lastModifiedBy>
  <cp:revision>2</cp:revision>
  <dcterms:created xsi:type="dcterms:W3CDTF">2026-08-01T01:13:38Z</dcterms:created>
  <dcterms:modified xsi:type="dcterms:W3CDTF">2026-08-01T04:04:17Z</dcterms:modified>
</cp:coreProperties>
</file>